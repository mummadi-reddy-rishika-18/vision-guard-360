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Century Gothic Paneuropean" panose="020B0604020202020204" charset="0"/>
      <p:regular r:id="rId16"/>
    </p:embeddedFont>
    <p:embeddedFont>
      <p:font typeface="Century Gothic Paneuropean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25" r="-9062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636269" y="1780250"/>
            <a:ext cx="5672235" cy="3363250"/>
          </a:xfrm>
          <a:custGeom>
            <a:avLst/>
            <a:gdLst/>
            <a:ahLst/>
            <a:cxnLst/>
            <a:rect l="l" t="t" r="r" b="b"/>
            <a:pathLst>
              <a:path w="5672235" h="3363250">
                <a:moveTo>
                  <a:pt x="0" y="0"/>
                </a:moveTo>
                <a:lnTo>
                  <a:pt x="5672235" y="0"/>
                </a:lnTo>
                <a:lnTo>
                  <a:pt x="5672235" y="3363250"/>
                </a:lnTo>
                <a:lnTo>
                  <a:pt x="0" y="33632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710669" y="5671086"/>
            <a:ext cx="2711661" cy="3131740"/>
          </a:xfrm>
          <a:custGeom>
            <a:avLst/>
            <a:gdLst/>
            <a:ahLst/>
            <a:cxnLst/>
            <a:rect l="l" t="t" r="r" b="b"/>
            <a:pathLst>
              <a:path w="2711661" h="3131740">
                <a:moveTo>
                  <a:pt x="0" y="0"/>
                </a:moveTo>
                <a:lnTo>
                  <a:pt x="2711661" y="0"/>
                </a:lnTo>
                <a:lnTo>
                  <a:pt x="2711661" y="3131739"/>
                </a:lnTo>
                <a:lnTo>
                  <a:pt x="0" y="31317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-670912" y="2523715"/>
            <a:ext cx="17402870" cy="2089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114"/>
              </a:lnSpc>
              <a:spcBef>
                <a:spcPct val="0"/>
              </a:spcBef>
            </a:pPr>
            <a:r>
              <a:rPr lang="en-US" sz="12224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VisionGuard360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25" r="-9062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982193" y="0"/>
            <a:ext cx="3964386" cy="1916120"/>
          </a:xfrm>
          <a:custGeom>
            <a:avLst/>
            <a:gdLst/>
            <a:ahLst/>
            <a:cxnLst/>
            <a:rect l="l" t="t" r="r" b="b"/>
            <a:pathLst>
              <a:path w="3964386" h="1916120">
                <a:moveTo>
                  <a:pt x="0" y="0"/>
                </a:moveTo>
                <a:lnTo>
                  <a:pt x="3964386" y="0"/>
                </a:lnTo>
                <a:lnTo>
                  <a:pt x="3964386" y="1916120"/>
                </a:lnTo>
                <a:lnTo>
                  <a:pt x="0" y="19161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960152" y="7400100"/>
            <a:ext cx="7315200" cy="1864444"/>
          </a:xfrm>
          <a:custGeom>
            <a:avLst/>
            <a:gdLst/>
            <a:ahLst/>
            <a:cxnLst/>
            <a:rect l="l" t="t" r="r" b="b"/>
            <a:pathLst>
              <a:path w="7315200" h="1864444">
                <a:moveTo>
                  <a:pt x="0" y="0"/>
                </a:moveTo>
                <a:lnTo>
                  <a:pt x="7315200" y="0"/>
                </a:lnTo>
                <a:lnTo>
                  <a:pt x="7315200" y="1864444"/>
                </a:lnTo>
                <a:lnTo>
                  <a:pt x="0" y="18644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544430" y="2074034"/>
            <a:ext cx="8743570" cy="5825403"/>
          </a:xfrm>
          <a:custGeom>
            <a:avLst/>
            <a:gdLst/>
            <a:ahLst/>
            <a:cxnLst/>
            <a:rect l="l" t="t" r="r" b="b"/>
            <a:pathLst>
              <a:path w="8743570" h="5825403">
                <a:moveTo>
                  <a:pt x="0" y="0"/>
                </a:moveTo>
                <a:lnTo>
                  <a:pt x="8743570" y="0"/>
                </a:lnTo>
                <a:lnTo>
                  <a:pt x="8743570" y="5825403"/>
                </a:lnTo>
                <a:lnTo>
                  <a:pt x="0" y="58254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0" y="1940684"/>
            <a:ext cx="10918061" cy="1164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19"/>
              </a:lnSpc>
            </a:pPr>
            <a:r>
              <a:rPr lang="en-US" sz="6799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Problem Statement 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0" y="3191334"/>
            <a:ext cx="9144000" cy="4046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35"/>
              </a:lnSpc>
            </a:pPr>
            <a:r>
              <a:rPr lang="en-US" sz="3525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Excavator blind-spot radar / vehicle blind spot detector: Mount ultrasonic/radar sensors around heavy machinery to create a 360° proximity alert system that warns operators of nearby workers via cabin buzzer and LED ring.</a:t>
            </a:r>
          </a:p>
          <a:p>
            <a:pPr algn="just">
              <a:lnSpc>
                <a:spcPts val="2555"/>
              </a:lnSpc>
            </a:pPr>
            <a:endParaRPr lang="en-US" sz="3525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25" r="-9062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58015" y="2074034"/>
            <a:ext cx="5246370" cy="7184266"/>
            <a:chOff x="0" y="0"/>
            <a:chExt cx="812800" cy="111303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1113031"/>
            </a:xfrm>
            <a:custGeom>
              <a:avLst/>
              <a:gdLst/>
              <a:ahLst/>
              <a:cxnLst/>
              <a:rect l="l" t="t" r="r" b="b"/>
              <a:pathLst>
                <a:path w="812800" h="1113031">
                  <a:moveTo>
                    <a:pt x="33940" y="0"/>
                  </a:moveTo>
                  <a:lnTo>
                    <a:pt x="778860" y="0"/>
                  </a:lnTo>
                  <a:cubicBezTo>
                    <a:pt x="797604" y="0"/>
                    <a:pt x="812800" y="15196"/>
                    <a:pt x="812800" y="33940"/>
                  </a:cubicBezTo>
                  <a:lnTo>
                    <a:pt x="812800" y="1079090"/>
                  </a:lnTo>
                  <a:cubicBezTo>
                    <a:pt x="812800" y="1097835"/>
                    <a:pt x="797604" y="1113031"/>
                    <a:pt x="778860" y="1113031"/>
                  </a:cubicBezTo>
                  <a:lnTo>
                    <a:pt x="33940" y="1113031"/>
                  </a:lnTo>
                  <a:cubicBezTo>
                    <a:pt x="15196" y="1113031"/>
                    <a:pt x="0" y="1097835"/>
                    <a:pt x="0" y="1079090"/>
                  </a:cubicBezTo>
                  <a:lnTo>
                    <a:pt x="0" y="33940"/>
                  </a:lnTo>
                  <a:cubicBezTo>
                    <a:pt x="0" y="15196"/>
                    <a:pt x="15196" y="0"/>
                    <a:pt x="33940" y="0"/>
                  </a:cubicBezTo>
                  <a:close/>
                </a:path>
              </a:pathLst>
            </a:custGeom>
            <a:blipFill>
              <a:blip r:embed="rId3"/>
              <a:stretch>
                <a:fillRect l="-52767" r="-52767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14630400" y="7900042"/>
            <a:ext cx="7315200" cy="3216072"/>
          </a:xfrm>
          <a:custGeom>
            <a:avLst/>
            <a:gdLst/>
            <a:ahLst/>
            <a:cxnLst/>
            <a:rect l="l" t="t" r="r" b="b"/>
            <a:pathLst>
              <a:path w="7315200" h="3216072">
                <a:moveTo>
                  <a:pt x="0" y="0"/>
                </a:moveTo>
                <a:lnTo>
                  <a:pt x="7315200" y="0"/>
                </a:lnTo>
                <a:lnTo>
                  <a:pt x="7315200" y="3216071"/>
                </a:lnTo>
                <a:lnTo>
                  <a:pt x="0" y="32160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850952" y="1887277"/>
            <a:ext cx="2879652" cy="3051287"/>
          </a:xfrm>
          <a:custGeom>
            <a:avLst/>
            <a:gdLst/>
            <a:ahLst/>
            <a:cxnLst/>
            <a:rect l="l" t="t" r="r" b="b"/>
            <a:pathLst>
              <a:path w="2879652" h="3051287">
                <a:moveTo>
                  <a:pt x="0" y="0"/>
                </a:moveTo>
                <a:lnTo>
                  <a:pt x="2879652" y="0"/>
                </a:lnTo>
                <a:lnTo>
                  <a:pt x="2879652" y="3051287"/>
                </a:lnTo>
                <a:lnTo>
                  <a:pt x="0" y="30512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283898" y="2045459"/>
            <a:ext cx="8588574" cy="1061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99"/>
              </a:lnSpc>
            </a:pPr>
            <a:r>
              <a:rPr lang="en-US" sz="6799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Objective/Solution 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16634" y="3355770"/>
            <a:ext cx="10728632" cy="5935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Create a low-cost and reliable safety The main objective of this project is to develop a 360° blind-spot detection and proximity warning system for heavy vehicles or excavators using ultrasonic/radar sensors.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The system aims to:</a:t>
            </a:r>
          </a:p>
          <a:p>
            <a:pPr algn="just">
              <a:lnSpc>
                <a:spcPts val="3602"/>
              </a:lnSpc>
            </a:pPr>
            <a:r>
              <a:rPr lang="en-US" sz="2573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1. Detect workers, obstacles, or vehicles present in the blind spots around heavy machinery.</a:t>
            </a:r>
          </a:p>
          <a:p>
            <a:pPr marL="555604" lvl="1" indent="-277802" algn="l">
              <a:lnSpc>
                <a:spcPts val="3602"/>
              </a:lnSpc>
              <a:buAutoNum type="arabicPeriod"/>
            </a:pPr>
            <a:r>
              <a:rPr lang="en-US" sz="2573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Improve safety at construction sites, mining areas, and industrial environments.</a:t>
            </a:r>
          </a:p>
          <a:p>
            <a:pPr marL="555604" lvl="1" indent="-277802" algn="l">
              <a:lnSpc>
                <a:spcPts val="3602"/>
              </a:lnSpc>
              <a:buAutoNum type="arabicPeriod"/>
            </a:pPr>
            <a:r>
              <a:rPr lang="en-US" sz="2573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Alert the operator through a buzzer and lLED indicators whenever a person or object comes close to the vehicle</a:t>
            </a:r>
          </a:p>
          <a:p>
            <a:pPr algn="just">
              <a:lnSpc>
                <a:spcPts val="3602"/>
              </a:lnSpc>
            </a:pPr>
            <a:endParaRPr lang="en-US" sz="2573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just">
              <a:lnSpc>
                <a:spcPts val="3602"/>
              </a:lnSpc>
            </a:pPr>
            <a:endParaRPr lang="en-US" sz="2573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25" r="-9062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975828" y="1963602"/>
            <a:ext cx="5841400" cy="5841400"/>
          </a:xfrm>
          <a:custGeom>
            <a:avLst/>
            <a:gdLst/>
            <a:ahLst/>
            <a:cxnLst/>
            <a:rect l="l" t="t" r="r" b="b"/>
            <a:pathLst>
              <a:path w="5841400" h="5841400">
                <a:moveTo>
                  <a:pt x="0" y="0"/>
                </a:moveTo>
                <a:lnTo>
                  <a:pt x="5841401" y="0"/>
                </a:lnTo>
                <a:lnTo>
                  <a:pt x="5841401" y="5841400"/>
                </a:lnTo>
                <a:lnTo>
                  <a:pt x="0" y="58414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93470" y="3577473"/>
            <a:ext cx="11382358" cy="3683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7"/>
              </a:lnSpc>
            </a:pPr>
            <a:r>
              <a:rPr lang="en-US" sz="3498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4. Reduce accidents caused by limited visibility around large machines.</a:t>
            </a:r>
          </a:p>
          <a:p>
            <a:pPr algn="ctr">
              <a:lnSpc>
                <a:spcPts val="4897"/>
              </a:lnSpc>
            </a:pPr>
            <a:r>
              <a:rPr lang="en-US" sz="3498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5. Provide real-time monitoring of the surroundings for safer machine operation</a:t>
            </a:r>
          </a:p>
          <a:p>
            <a:pPr marL="755312" lvl="1" indent="-377656" algn="l">
              <a:lnSpc>
                <a:spcPts val="4897"/>
              </a:lnSpc>
              <a:buAutoNum type="arabicPeriod"/>
            </a:pPr>
            <a:r>
              <a:rPr lang="en-US" sz="3498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solution using sensors and embedded systems.</a:t>
            </a:r>
          </a:p>
          <a:p>
            <a:pPr algn="ctr">
              <a:lnSpc>
                <a:spcPts val="4897"/>
              </a:lnSpc>
              <a:spcBef>
                <a:spcPct val="0"/>
              </a:spcBef>
            </a:pPr>
            <a:endParaRPr lang="en-US" sz="3498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25" r="-9062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707214" y="8767559"/>
            <a:ext cx="6639005" cy="4114800"/>
          </a:xfrm>
          <a:custGeom>
            <a:avLst/>
            <a:gdLst/>
            <a:ahLst/>
            <a:cxnLst/>
            <a:rect l="l" t="t" r="r" b="b"/>
            <a:pathLst>
              <a:path w="6639005" h="4114800">
                <a:moveTo>
                  <a:pt x="0" y="0"/>
                </a:moveTo>
                <a:lnTo>
                  <a:pt x="6639005" y="0"/>
                </a:lnTo>
                <a:lnTo>
                  <a:pt x="663900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43051" y="3418795"/>
            <a:ext cx="7460693" cy="3637088"/>
          </a:xfrm>
          <a:custGeom>
            <a:avLst/>
            <a:gdLst/>
            <a:ahLst/>
            <a:cxnLst/>
            <a:rect l="l" t="t" r="r" b="b"/>
            <a:pathLst>
              <a:path w="7460693" h="3637088">
                <a:moveTo>
                  <a:pt x="0" y="0"/>
                </a:moveTo>
                <a:lnTo>
                  <a:pt x="7460693" y="0"/>
                </a:lnTo>
                <a:lnTo>
                  <a:pt x="7460693" y="3637088"/>
                </a:lnTo>
                <a:lnTo>
                  <a:pt x="0" y="36370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8496898" y="1559982"/>
            <a:ext cx="7278083" cy="1061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99"/>
              </a:lnSpc>
            </a:pPr>
            <a:r>
              <a:rPr lang="en-US" sz="6799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Features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496898" y="2545505"/>
            <a:ext cx="10531966" cy="5643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69"/>
              </a:lnSpc>
            </a:pPr>
            <a:endParaRPr/>
          </a:p>
          <a:p>
            <a:pPr algn="just">
              <a:lnSpc>
                <a:spcPts val="4969"/>
              </a:lnSpc>
            </a:pPr>
            <a:r>
              <a:rPr lang="en-US" sz="354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• 360° blind-spot monitoring</a:t>
            </a:r>
          </a:p>
          <a:p>
            <a:pPr algn="just">
              <a:lnSpc>
                <a:spcPts val="4969"/>
              </a:lnSpc>
            </a:pPr>
            <a:r>
              <a:rPr lang="en-US" sz="354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• Real-time obstacle detection</a:t>
            </a:r>
          </a:p>
          <a:p>
            <a:pPr algn="just">
              <a:lnSpc>
                <a:spcPts val="4969"/>
              </a:lnSpc>
            </a:pPr>
            <a:r>
              <a:rPr lang="en-US" sz="354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• Audio alert using buzzer</a:t>
            </a:r>
          </a:p>
          <a:p>
            <a:pPr algn="just">
              <a:lnSpc>
                <a:spcPts val="4969"/>
              </a:lnSpc>
            </a:pPr>
            <a:r>
              <a:rPr lang="en-US" sz="354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• Visual warning using NeoPixel LED ring</a:t>
            </a:r>
          </a:p>
          <a:p>
            <a:pPr algn="just">
              <a:lnSpc>
                <a:spcPts val="4969"/>
              </a:lnSpc>
            </a:pPr>
            <a:r>
              <a:rPr lang="en-US" sz="354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• Low-cost safety system</a:t>
            </a:r>
          </a:p>
          <a:p>
            <a:pPr algn="just">
              <a:lnSpc>
                <a:spcPts val="4969"/>
              </a:lnSpc>
            </a:pPr>
            <a:r>
              <a:rPr lang="en-US" sz="354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• Easy installation on heavy vehicles</a:t>
            </a:r>
          </a:p>
          <a:p>
            <a:pPr algn="just">
              <a:lnSpc>
                <a:spcPts val="4969"/>
              </a:lnSpc>
            </a:pPr>
            <a:endParaRPr lang="en-US" sz="3549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just">
              <a:lnSpc>
                <a:spcPts val="4969"/>
              </a:lnSpc>
            </a:pPr>
            <a:endParaRPr lang="en-US" sz="3549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25" r="-9062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385096" y="6898879"/>
            <a:ext cx="5171757" cy="4689759"/>
          </a:xfrm>
          <a:custGeom>
            <a:avLst/>
            <a:gdLst/>
            <a:ahLst/>
            <a:cxnLst/>
            <a:rect l="l" t="t" r="r" b="b"/>
            <a:pathLst>
              <a:path w="5171757" h="4689759">
                <a:moveTo>
                  <a:pt x="0" y="0"/>
                </a:moveTo>
                <a:lnTo>
                  <a:pt x="5171757" y="0"/>
                </a:lnTo>
                <a:lnTo>
                  <a:pt x="5171757" y="4689759"/>
                </a:lnTo>
                <a:lnTo>
                  <a:pt x="0" y="46897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45524" y="1577971"/>
            <a:ext cx="6933332" cy="2138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99"/>
              </a:lnSpc>
            </a:pPr>
            <a:r>
              <a:rPr lang="en-US" sz="6799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Components Used 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5524" y="3678849"/>
            <a:ext cx="13890745" cy="3803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076"/>
              </a:lnSpc>
            </a:pPr>
            <a:r>
              <a:rPr lang="en-US" sz="36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1.Ultrasonic sensor (HC-SR04) -4</a:t>
            </a:r>
          </a:p>
          <a:p>
            <a:pPr algn="just">
              <a:lnSpc>
                <a:spcPts val="5076"/>
              </a:lnSpc>
            </a:pPr>
            <a:r>
              <a:rPr lang="en-US" sz="36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2.Arduino Uno R3 -1</a:t>
            </a:r>
          </a:p>
          <a:p>
            <a:pPr algn="just">
              <a:lnSpc>
                <a:spcPts val="5076"/>
              </a:lnSpc>
            </a:pPr>
            <a:r>
              <a:rPr lang="en-US" sz="36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3.Buzzer (Piezo) -1</a:t>
            </a:r>
          </a:p>
          <a:p>
            <a:pPr algn="just">
              <a:lnSpc>
                <a:spcPts val="5076"/>
              </a:lnSpc>
            </a:pPr>
            <a:r>
              <a:rPr lang="en-US" sz="36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4.NeoPixel led ring 16 -1</a:t>
            </a:r>
          </a:p>
          <a:p>
            <a:pPr algn="just">
              <a:lnSpc>
                <a:spcPts val="5076"/>
              </a:lnSpc>
            </a:pPr>
            <a:r>
              <a:rPr lang="en-US" sz="36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5.Jumper wire</a:t>
            </a:r>
          </a:p>
          <a:p>
            <a:pPr algn="just">
              <a:lnSpc>
                <a:spcPts val="5076"/>
              </a:lnSpc>
            </a:pPr>
            <a:endParaRPr lang="en-US" sz="3626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9144000" y="651153"/>
            <a:ext cx="6625880" cy="7726841"/>
            <a:chOff x="0" y="0"/>
            <a:chExt cx="1164719" cy="13582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64720" cy="1358250"/>
            </a:xfrm>
            <a:custGeom>
              <a:avLst/>
              <a:gdLst/>
              <a:ahLst/>
              <a:cxnLst/>
              <a:rect l="l" t="t" r="r" b="b"/>
              <a:pathLst>
                <a:path w="1164720" h="1358250">
                  <a:moveTo>
                    <a:pt x="26874" y="0"/>
                  </a:moveTo>
                  <a:lnTo>
                    <a:pt x="1137845" y="0"/>
                  </a:lnTo>
                  <a:cubicBezTo>
                    <a:pt x="1152688" y="0"/>
                    <a:pt x="1164720" y="12032"/>
                    <a:pt x="1164720" y="26874"/>
                  </a:cubicBezTo>
                  <a:lnTo>
                    <a:pt x="1164720" y="1331376"/>
                  </a:lnTo>
                  <a:cubicBezTo>
                    <a:pt x="1164720" y="1346218"/>
                    <a:pt x="1152688" y="1358250"/>
                    <a:pt x="1137845" y="1358250"/>
                  </a:cubicBezTo>
                  <a:lnTo>
                    <a:pt x="26874" y="1358250"/>
                  </a:lnTo>
                  <a:cubicBezTo>
                    <a:pt x="12032" y="1358250"/>
                    <a:pt x="0" y="1346218"/>
                    <a:pt x="0" y="1331376"/>
                  </a:cubicBezTo>
                  <a:lnTo>
                    <a:pt x="0" y="26874"/>
                  </a:lnTo>
                  <a:cubicBezTo>
                    <a:pt x="0" y="12032"/>
                    <a:pt x="12032" y="0"/>
                    <a:pt x="26874" y="0"/>
                  </a:cubicBezTo>
                  <a:close/>
                </a:path>
              </a:pathLst>
            </a:custGeom>
            <a:blipFill>
              <a:blip r:embed="rId4"/>
              <a:stretch>
                <a:fillRect l="-8308" r="-8308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25" r="-9062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2829757"/>
            <a:ext cx="8040043" cy="4955395"/>
            <a:chOff x="0" y="0"/>
            <a:chExt cx="1245613" cy="76772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45613" cy="767720"/>
            </a:xfrm>
            <a:custGeom>
              <a:avLst/>
              <a:gdLst/>
              <a:ahLst/>
              <a:cxnLst/>
              <a:rect l="l" t="t" r="r" b="b"/>
              <a:pathLst>
                <a:path w="1245613" h="767720">
                  <a:moveTo>
                    <a:pt x="22147" y="0"/>
                  </a:moveTo>
                  <a:lnTo>
                    <a:pt x="1223466" y="0"/>
                  </a:lnTo>
                  <a:cubicBezTo>
                    <a:pt x="1235698" y="0"/>
                    <a:pt x="1245613" y="9916"/>
                    <a:pt x="1245613" y="22147"/>
                  </a:cubicBezTo>
                  <a:lnTo>
                    <a:pt x="1245613" y="745573"/>
                  </a:lnTo>
                  <a:cubicBezTo>
                    <a:pt x="1245613" y="757805"/>
                    <a:pt x="1235698" y="767720"/>
                    <a:pt x="1223466" y="767720"/>
                  </a:cubicBezTo>
                  <a:lnTo>
                    <a:pt x="22147" y="767720"/>
                  </a:lnTo>
                  <a:cubicBezTo>
                    <a:pt x="9916" y="767720"/>
                    <a:pt x="0" y="757805"/>
                    <a:pt x="0" y="745573"/>
                  </a:cubicBezTo>
                  <a:lnTo>
                    <a:pt x="0" y="22147"/>
                  </a:lnTo>
                  <a:cubicBezTo>
                    <a:pt x="0" y="9916"/>
                    <a:pt x="9916" y="0"/>
                    <a:pt x="22147" y="0"/>
                  </a:cubicBezTo>
                  <a:close/>
                </a:path>
              </a:pathLst>
            </a:custGeom>
            <a:blipFill>
              <a:blip r:embed="rId3"/>
              <a:stretch>
                <a:fillRect t="-14899" b="-14899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4564202" y="7948301"/>
            <a:ext cx="7315200" cy="3216072"/>
          </a:xfrm>
          <a:custGeom>
            <a:avLst/>
            <a:gdLst/>
            <a:ahLst/>
            <a:cxnLst/>
            <a:rect l="l" t="t" r="r" b="b"/>
            <a:pathLst>
              <a:path w="7315200" h="3216072">
                <a:moveTo>
                  <a:pt x="0" y="0"/>
                </a:moveTo>
                <a:lnTo>
                  <a:pt x="7315200" y="0"/>
                </a:lnTo>
                <a:lnTo>
                  <a:pt x="7315200" y="3216072"/>
                </a:lnTo>
                <a:lnTo>
                  <a:pt x="0" y="32160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8221802" y="483551"/>
            <a:ext cx="8206861" cy="1061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99"/>
              </a:lnSpc>
            </a:pPr>
            <a:r>
              <a:rPr lang="en-US" sz="6799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How it works ???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221802" y="1962708"/>
            <a:ext cx="9366066" cy="7985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43"/>
              </a:lnSpc>
            </a:pPr>
            <a:r>
              <a:rPr lang="en-US" sz="3245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1. HC-SR04 Ultrasonic Sensor (Quantity – 4)</a:t>
            </a:r>
          </a:p>
          <a:p>
            <a:pPr algn="just">
              <a:lnSpc>
                <a:spcPts val="4543"/>
              </a:lnSpc>
            </a:pPr>
            <a:r>
              <a:rPr lang="en-US" sz="3245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These sensors detect nearby objects around the vehicle.</a:t>
            </a:r>
          </a:p>
          <a:p>
            <a:pPr algn="just">
              <a:lnSpc>
                <a:spcPts val="4543"/>
              </a:lnSpc>
            </a:pPr>
            <a:r>
              <a:rPr lang="en-US" sz="3245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They send ultrasonic waves and receive the reflected waves to measure the distance between the vehicle and obstacles in blind spots.</a:t>
            </a:r>
          </a:p>
          <a:p>
            <a:pPr algn="just">
              <a:lnSpc>
                <a:spcPts val="4543"/>
              </a:lnSpc>
            </a:pPr>
            <a:r>
              <a:rPr lang="en-US" sz="3245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2. Arduino Uno R3 (Quantity – 1)</a:t>
            </a:r>
          </a:p>
          <a:p>
            <a:pPr algn="just">
              <a:lnSpc>
                <a:spcPts val="4543"/>
              </a:lnSpc>
            </a:pPr>
            <a:r>
              <a:rPr lang="en-US" sz="3245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It acts as the brain of the system.</a:t>
            </a:r>
          </a:p>
          <a:p>
            <a:pPr algn="just">
              <a:lnSpc>
                <a:spcPts val="4543"/>
              </a:lnSpc>
            </a:pPr>
            <a:r>
              <a:rPr lang="en-US" sz="3245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It receives data from all ultrasonic sensors, processes the distance values, and controls the buzzer and LED ring based on obstacle detection.</a:t>
            </a:r>
          </a:p>
          <a:p>
            <a:pPr algn="just">
              <a:lnSpc>
                <a:spcPts val="4543"/>
              </a:lnSpc>
            </a:pPr>
            <a:endParaRPr lang="en-US" sz="3245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25" r="-9062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145556" y="2467505"/>
            <a:ext cx="7456251" cy="4975353"/>
          </a:xfrm>
          <a:custGeom>
            <a:avLst/>
            <a:gdLst/>
            <a:ahLst/>
            <a:cxnLst/>
            <a:rect l="l" t="t" r="r" b="b"/>
            <a:pathLst>
              <a:path w="7456251" h="4975353">
                <a:moveTo>
                  <a:pt x="0" y="0"/>
                </a:moveTo>
                <a:lnTo>
                  <a:pt x="7456252" y="0"/>
                </a:lnTo>
                <a:lnTo>
                  <a:pt x="7456252" y="4975353"/>
                </a:lnTo>
                <a:lnTo>
                  <a:pt x="0" y="49753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80124" y="243605"/>
            <a:ext cx="10316082" cy="9733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04"/>
              </a:lnSpc>
            </a:pPr>
            <a:r>
              <a:rPr lang="en-US" sz="343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3. Piezo Buzzer (Quantity – 1)</a:t>
            </a:r>
          </a:p>
          <a:p>
            <a:pPr algn="just">
              <a:lnSpc>
                <a:spcPts val="4804"/>
              </a:lnSpc>
            </a:pPr>
            <a:r>
              <a:rPr lang="en-US" sz="343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The buzzer gives a warning sound when an object or person comes too close to the vehicle, alerting the operator about danger.</a:t>
            </a:r>
          </a:p>
          <a:p>
            <a:pPr algn="just">
              <a:lnSpc>
                <a:spcPts val="4804"/>
              </a:lnSpc>
            </a:pPr>
            <a:r>
              <a:rPr lang="en-US" sz="343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4. NeoPixel LED Ring 16 (Quantity – 1)</a:t>
            </a:r>
          </a:p>
          <a:p>
            <a:pPr algn="just">
              <a:lnSpc>
                <a:spcPts val="4804"/>
              </a:lnSpc>
            </a:pPr>
            <a:r>
              <a:rPr lang="en-US" sz="343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The LED ring provides visual alerts.</a:t>
            </a:r>
          </a:p>
          <a:p>
            <a:pPr algn="just">
              <a:lnSpc>
                <a:spcPts val="4804"/>
              </a:lnSpc>
            </a:pPr>
            <a:r>
              <a:rPr lang="en-US" sz="343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Different LEDs glow or change color depending on the distance of the obstacle from the vehicle.</a:t>
            </a:r>
          </a:p>
          <a:p>
            <a:pPr algn="just">
              <a:lnSpc>
                <a:spcPts val="4804"/>
              </a:lnSpc>
            </a:pPr>
            <a:r>
              <a:rPr lang="en-US" sz="343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5. Jumper Wires</a:t>
            </a:r>
          </a:p>
          <a:p>
            <a:pPr algn="just">
              <a:lnSpc>
                <a:spcPts val="4804"/>
              </a:lnSpc>
            </a:pPr>
            <a:r>
              <a:rPr lang="en-US" sz="343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Jumper wires are used to connect all the components together and allow signals and power to pass between the Arduino, sensors, buzzer, and LED ring.</a:t>
            </a:r>
          </a:p>
          <a:p>
            <a:pPr algn="just">
              <a:lnSpc>
                <a:spcPts val="4804"/>
              </a:lnSpc>
            </a:pPr>
            <a:endParaRPr lang="en-US" sz="3431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just">
              <a:lnSpc>
                <a:spcPts val="4804"/>
              </a:lnSpc>
            </a:pPr>
            <a:endParaRPr lang="en-US" sz="3431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25" r="-9062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502081" y="1821460"/>
            <a:ext cx="6236961" cy="4114800"/>
          </a:xfrm>
          <a:custGeom>
            <a:avLst/>
            <a:gdLst/>
            <a:ahLst/>
            <a:cxnLst/>
            <a:rect l="l" t="t" r="r" b="b"/>
            <a:pathLst>
              <a:path w="6236961" h="4114800">
                <a:moveTo>
                  <a:pt x="0" y="0"/>
                </a:moveTo>
                <a:lnTo>
                  <a:pt x="6236961" y="0"/>
                </a:lnTo>
                <a:lnTo>
                  <a:pt x="623696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 flipH="1">
            <a:off x="-3715693" y="5300934"/>
            <a:ext cx="6236961" cy="4114800"/>
          </a:xfrm>
          <a:custGeom>
            <a:avLst/>
            <a:gdLst/>
            <a:ahLst/>
            <a:cxnLst/>
            <a:rect l="l" t="t" r="r" b="b"/>
            <a:pathLst>
              <a:path w="6236961" h="4114800">
                <a:moveTo>
                  <a:pt x="6236961" y="0"/>
                </a:moveTo>
                <a:lnTo>
                  <a:pt x="0" y="0"/>
                </a:lnTo>
                <a:lnTo>
                  <a:pt x="0" y="4114800"/>
                </a:lnTo>
                <a:lnTo>
                  <a:pt x="6236961" y="4114800"/>
                </a:lnTo>
                <a:lnTo>
                  <a:pt x="623696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521268" y="1265141"/>
            <a:ext cx="11707189" cy="8620387"/>
          </a:xfrm>
          <a:custGeom>
            <a:avLst/>
            <a:gdLst/>
            <a:ahLst/>
            <a:cxnLst/>
            <a:rect l="l" t="t" r="r" b="b"/>
            <a:pathLst>
              <a:path w="11707189" h="8620387">
                <a:moveTo>
                  <a:pt x="0" y="0"/>
                </a:moveTo>
                <a:lnTo>
                  <a:pt x="11707189" y="0"/>
                </a:lnTo>
                <a:lnTo>
                  <a:pt x="11707189" y="8620387"/>
                </a:lnTo>
                <a:lnTo>
                  <a:pt x="0" y="86203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2874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307186" y="-28575"/>
            <a:ext cx="13980814" cy="1061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99"/>
              </a:lnSpc>
            </a:pPr>
            <a:r>
              <a:rPr lang="en-US" sz="6799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Circuit Diagram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25" r="-9062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07654" y="1028700"/>
            <a:ext cx="15272693" cy="8323618"/>
          </a:xfrm>
          <a:custGeom>
            <a:avLst/>
            <a:gdLst/>
            <a:ahLst/>
            <a:cxnLst/>
            <a:rect l="l" t="t" r="r" b="b"/>
            <a:pathLst>
              <a:path w="15272693" h="8323618">
                <a:moveTo>
                  <a:pt x="0" y="0"/>
                </a:moveTo>
                <a:lnTo>
                  <a:pt x="15272692" y="0"/>
                </a:lnTo>
                <a:lnTo>
                  <a:pt x="15272692" y="8323618"/>
                </a:lnTo>
                <a:lnTo>
                  <a:pt x="0" y="83236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498524" y="-74304"/>
            <a:ext cx="6661310" cy="1103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19"/>
              </a:lnSpc>
              <a:spcBef>
                <a:spcPct val="0"/>
              </a:spcBef>
            </a:pPr>
            <a:r>
              <a:rPr lang="en-US" sz="6585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Circuit Diagram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25" r="-9062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254119" y="8275419"/>
            <a:ext cx="5259659" cy="792467"/>
          </a:xfrm>
          <a:custGeom>
            <a:avLst/>
            <a:gdLst/>
            <a:ahLst/>
            <a:cxnLst/>
            <a:rect l="l" t="t" r="r" b="b"/>
            <a:pathLst>
              <a:path w="5259659" h="792467">
                <a:moveTo>
                  <a:pt x="0" y="0"/>
                </a:moveTo>
                <a:lnTo>
                  <a:pt x="5259659" y="0"/>
                </a:lnTo>
                <a:lnTo>
                  <a:pt x="5259659" y="792468"/>
                </a:lnTo>
                <a:lnTo>
                  <a:pt x="0" y="7924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872472" y="2281823"/>
            <a:ext cx="5259659" cy="792467"/>
          </a:xfrm>
          <a:custGeom>
            <a:avLst/>
            <a:gdLst/>
            <a:ahLst/>
            <a:cxnLst/>
            <a:rect l="l" t="t" r="r" b="b"/>
            <a:pathLst>
              <a:path w="5259659" h="792467">
                <a:moveTo>
                  <a:pt x="0" y="0"/>
                </a:moveTo>
                <a:lnTo>
                  <a:pt x="5259659" y="0"/>
                </a:lnTo>
                <a:lnTo>
                  <a:pt x="5259659" y="792468"/>
                </a:lnTo>
                <a:lnTo>
                  <a:pt x="0" y="7924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499800" y="627249"/>
            <a:ext cx="12094160" cy="1061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99"/>
              </a:lnSpc>
            </a:pPr>
            <a:r>
              <a:rPr lang="en-US" sz="6799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Future Scope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91172" y="2280895"/>
            <a:ext cx="23553328" cy="5643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010"/>
              </a:lnSpc>
            </a:pPr>
            <a:r>
              <a:rPr lang="en-US" sz="357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1.Integration with AI and cameras for better object recognition.</a:t>
            </a:r>
          </a:p>
          <a:p>
            <a:pPr algn="just">
              <a:lnSpc>
                <a:spcPts val="5010"/>
              </a:lnSpc>
            </a:pPr>
            <a:r>
              <a:rPr lang="en-US" sz="357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2.Mobile app connectivity for remote monitoring and alerts.</a:t>
            </a:r>
          </a:p>
          <a:p>
            <a:pPr algn="just">
              <a:lnSpc>
                <a:spcPts val="5010"/>
              </a:lnSpc>
            </a:pPr>
            <a:r>
              <a:rPr lang="en-US" sz="357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3.GPS and IoT support for real-time tracking and safety monitoring.</a:t>
            </a:r>
          </a:p>
          <a:p>
            <a:pPr algn="just">
              <a:lnSpc>
                <a:spcPts val="5010"/>
              </a:lnSpc>
            </a:pPr>
            <a:r>
              <a:rPr lang="en-US" sz="357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4.Automatic braking system to prevent collisions.</a:t>
            </a:r>
          </a:p>
          <a:p>
            <a:pPr algn="just">
              <a:lnSpc>
                <a:spcPts val="5010"/>
              </a:lnSpc>
            </a:pPr>
            <a:r>
              <a:rPr lang="en-US" sz="357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5.Use in construction vehicles, mining equipment, trucks, and smart  </a:t>
            </a:r>
          </a:p>
          <a:p>
            <a:pPr algn="just">
              <a:lnSpc>
                <a:spcPts val="5010"/>
              </a:lnSpc>
            </a:pPr>
            <a:r>
              <a:rPr lang="en-US" sz="357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6.Transportation systems.</a:t>
            </a:r>
          </a:p>
          <a:p>
            <a:pPr algn="just">
              <a:lnSpc>
                <a:spcPts val="5010"/>
              </a:lnSpc>
            </a:pPr>
            <a:r>
              <a:rPr lang="en-US" sz="357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7.Improved accuracy using advanced radar and sensor technologies.</a:t>
            </a:r>
          </a:p>
          <a:p>
            <a:pPr algn="just">
              <a:lnSpc>
                <a:spcPts val="5010"/>
              </a:lnSpc>
            </a:pPr>
            <a:endParaRPr lang="en-US" sz="3579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just">
              <a:lnSpc>
                <a:spcPts val="5010"/>
              </a:lnSpc>
            </a:pPr>
            <a:endParaRPr lang="en-US" sz="3579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25" r="-9062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112031" y="1811772"/>
            <a:ext cx="7019659" cy="7416330"/>
            <a:chOff x="0" y="0"/>
            <a:chExt cx="1087529" cy="114898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87529" cy="1148984"/>
            </a:xfrm>
            <a:custGeom>
              <a:avLst/>
              <a:gdLst/>
              <a:ahLst/>
              <a:cxnLst/>
              <a:rect l="l" t="t" r="r" b="b"/>
              <a:pathLst>
                <a:path w="1087529" h="1148984">
                  <a:moveTo>
                    <a:pt x="25366" y="0"/>
                  </a:moveTo>
                  <a:lnTo>
                    <a:pt x="1062162" y="0"/>
                  </a:lnTo>
                  <a:cubicBezTo>
                    <a:pt x="1068890" y="0"/>
                    <a:pt x="1075342" y="2673"/>
                    <a:pt x="1080099" y="7430"/>
                  </a:cubicBezTo>
                  <a:cubicBezTo>
                    <a:pt x="1084856" y="12187"/>
                    <a:pt x="1087529" y="18639"/>
                    <a:pt x="1087529" y="25366"/>
                  </a:cubicBezTo>
                  <a:lnTo>
                    <a:pt x="1087529" y="1123617"/>
                  </a:lnTo>
                  <a:cubicBezTo>
                    <a:pt x="1087529" y="1130345"/>
                    <a:pt x="1084856" y="1136797"/>
                    <a:pt x="1080099" y="1141554"/>
                  </a:cubicBezTo>
                  <a:cubicBezTo>
                    <a:pt x="1075342" y="1146311"/>
                    <a:pt x="1068890" y="1148984"/>
                    <a:pt x="1062162" y="1148984"/>
                  </a:cubicBezTo>
                  <a:lnTo>
                    <a:pt x="25366" y="1148984"/>
                  </a:lnTo>
                  <a:cubicBezTo>
                    <a:pt x="18639" y="1148984"/>
                    <a:pt x="12187" y="1146311"/>
                    <a:pt x="7430" y="1141554"/>
                  </a:cubicBezTo>
                  <a:cubicBezTo>
                    <a:pt x="2673" y="1136797"/>
                    <a:pt x="0" y="1130345"/>
                    <a:pt x="0" y="1123617"/>
                  </a:cubicBezTo>
                  <a:lnTo>
                    <a:pt x="0" y="25366"/>
                  </a:lnTo>
                  <a:cubicBezTo>
                    <a:pt x="0" y="18639"/>
                    <a:pt x="2673" y="12187"/>
                    <a:pt x="7430" y="7430"/>
                  </a:cubicBezTo>
                  <a:cubicBezTo>
                    <a:pt x="12187" y="2673"/>
                    <a:pt x="18639" y="0"/>
                    <a:pt x="25366" y="0"/>
                  </a:cubicBezTo>
                  <a:close/>
                </a:path>
              </a:pathLst>
            </a:custGeom>
            <a:blipFill>
              <a:blip r:embed="rId3"/>
              <a:stretch>
                <a:fillRect l="-26558" r="-26558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-867466" y="8506174"/>
            <a:ext cx="6059159" cy="2928593"/>
          </a:xfrm>
          <a:custGeom>
            <a:avLst/>
            <a:gdLst/>
            <a:ahLst/>
            <a:cxnLst/>
            <a:rect l="l" t="t" r="r" b="b"/>
            <a:pathLst>
              <a:path w="6059159" h="2928593">
                <a:moveTo>
                  <a:pt x="0" y="0"/>
                </a:moveTo>
                <a:lnTo>
                  <a:pt x="6059158" y="0"/>
                </a:lnTo>
                <a:lnTo>
                  <a:pt x="6059158" y="2928593"/>
                </a:lnTo>
                <a:lnTo>
                  <a:pt x="0" y="29285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62125" y="2234337"/>
            <a:ext cx="14048377" cy="6339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643"/>
              </a:lnSpc>
            </a:pPr>
            <a:r>
              <a:rPr lang="en-US" sz="403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1.Provides 360°obstacle detection</a:t>
            </a:r>
          </a:p>
          <a:p>
            <a:pPr algn="just">
              <a:lnSpc>
                <a:spcPts val="5643"/>
              </a:lnSpc>
            </a:pPr>
            <a:r>
              <a:rPr lang="en-US" sz="403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2.Reduces blind-spot accidents</a:t>
            </a:r>
          </a:p>
          <a:p>
            <a:pPr algn="just">
              <a:lnSpc>
                <a:spcPts val="5643"/>
              </a:lnSpc>
            </a:pPr>
            <a:r>
              <a:rPr lang="en-US" sz="403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3.Improves operator safety</a:t>
            </a:r>
          </a:p>
          <a:p>
            <a:pPr algn="just">
              <a:lnSpc>
                <a:spcPts val="5643"/>
              </a:lnSpc>
            </a:pPr>
            <a:r>
              <a:rPr lang="en-US" sz="403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4.Real-time monitoring</a:t>
            </a:r>
          </a:p>
          <a:p>
            <a:pPr algn="just">
              <a:lnSpc>
                <a:spcPts val="5643"/>
              </a:lnSpc>
            </a:pPr>
            <a:r>
              <a:rPr lang="en-US" sz="403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5.Low-cost implementation</a:t>
            </a:r>
          </a:p>
          <a:p>
            <a:pPr algn="just">
              <a:lnSpc>
                <a:spcPts val="5643"/>
              </a:lnSpc>
            </a:pPr>
            <a:r>
              <a:rPr lang="en-US" sz="403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6.Easy to install and maintain</a:t>
            </a:r>
          </a:p>
          <a:p>
            <a:pPr algn="just">
              <a:lnSpc>
                <a:spcPts val="5643"/>
              </a:lnSpc>
            </a:pPr>
            <a:r>
              <a:rPr lang="en-US" sz="403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7.Portable and scalable design</a:t>
            </a:r>
          </a:p>
          <a:p>
            <a:pPr algn="just">
              <a:lnSpc>
                <a:spcPts val="5643"/>
              </a:lnSpc>
            </a:pPr>
            <a:endParaRPr lang="en-US" sz="4031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just">
              <a:lnSpc>
                <a:spcPts val="5643"/>
              </a:lnSpc>
            </a:pPr>
            <a:endParaRPr lang="en-US" sz="4031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483551"/>
            <a:ext cx="7319155" cy="1061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99"/>
              </a:lnSpc>
            </a:pPr>
            <a:r>
              <a:rPr lang="en-US" sz="6799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Advantages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25" r="-9062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867466" y="8506174"/>
            <a:ext cx="6059159" cy="2928593"/>
          </a:xfrm>
          <a:custGeom>
            <a:avLst/>
            <a:gdLst/>
            <a:ahLst/>
            <a:cxnLst/>
            <a:rect l="l" t="t" r="r" b="b"/>
            <a:pathLst>
              <a:path w="6059159" h="2928593">
                <a:moveTo>
                  <a:pt x="0" y="0"/>
                </a:moveTo>
                <a:lnTo>
                  <a:pt x="6059158" y="0"/>
                </a:lnTo>
                <a:lnTo>
                  <a:pt x="6059158" y="2928593"/>
                </a:lnTo>
                <a:lnTo>
                  <a:pt x="0" y="29285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16155" y="2583786"/>
            <a:ext cx="15434710" cy="4645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200"/>
              </a:lnSpc>
            </a:pPr>
            <a:r>
              <a:rPr lang="en-US" sz="4428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M.BHAVANA</a:t>
            </a:r>
          </a:p>
          <a:p>
            <a:pPr algn="just">
              <a:lnSpc>
                <a:spcPts val="6200"/>
              </a:lnSpc>
            </a:pPr>
            <a:r>
              <a:rPr lang="en-US" sz="4428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MUMMADI REDDY RISHIKA</a:t>
            </a:r>
          </a:p>
          <a:p>
            <a:pPr algn="just">
              <a:lnSpc>
                <a:spcPts val="6200"/>
              </a:lnSpc>
            </a:pPr>
            <a:r>
              <a:rPr lang="en-US" sz="4428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VENKAT KARTHIKEYA KOTAKONDA</a:t>
            </a:r>
          </a:p>
          <a:p>
            <a:pPr algn="just">
              <a:lnSpc>
                <a:spcPts val="6200"/>
              </a:lnSpc>
            </a:pPr>
            <a:r>
              <a:rPr lang="en-US" sz="4428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RANJITH KUMAR C</a:t>
            </a:r>
          </a:p>
          <a:p>
            <a:pPr algn="just">
              <a:lnSpc>
                <a:spcPts val="6200"/>
              </a:lnSpc>
            </a:pPr>
            <a:r>
              <a:rPr lang="en-US" sz="4428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</a:p>
          <a:p>
            <a:pPr algn="just">
              <a:lnSpc>
                <a:spcPts val="6200"/>
              </a:lnSpc>
            </a:pPr>
            <a:endParaRPr lang="en-US" sz="4428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9329467" y="1401965"/>
            <a:ext cx="9867908" cy="6574494"/>
          </a:xfrm>
          <a:custGeom>
            <a:avLst/>
            <a:gdLst/>
            <a:ahLst/>
            <a:cxnLst/>
            <a:rect l="l" t="t" r="r" b="b"/>
            <a:pathLst>
              <a:path w="9867908" h="6574494">
                <a:moveTo>
                  <a:pt x="0" y="0"/>
                </a:moveTo>
                <a:lnTo>
                  <a:pt x="9867909" y="0"/>
                </a:lnTo>
                <a:lnTo>
                  <a:pt x="9867909" y="6574494"/>
                </a:lnTo>
                <a:lnTo>
                  <a:pt x="0" y="65744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14355" y="340242"/>
            <a:ext cx="7319155" cy="1061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99"/>
              </a:lnSpc>
            </a:pPr>
            <a:r>
              <a:rPr lang="en-US" sz="6799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Team Members: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25" r="-9062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860253" y="4996376"/>
            <a:ext cx="9447371" cy="959077"/>
            <a:chOff x="0" y="0"/>
            <a:chExt cx="976614" cy="9914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76614" cy="99144"/>
            </a:xfrm>
            <a:custGeom>
              <a:avLst/>
              <a:gdLst/>
              <a:ahLst/>
              <a:cxnLst/>
              <a:rect l="l" t="t" r="r" b="b"/>
              <a:pathLst>
                <a:path w="976614" h="99144">
                  <a:moveTo>
                    <a:pt x="41793" y="0"/>
                  </a:moveTo>
                  <a:lnTo>
                    <a:pt x="934821" y="0"/>
                  </a:lnTo>
                  <a:cubicBezTo>
                    <a:pt x="945905" y="0"/>
                    <a:pt x="956535" y="4403"/>
                    <a:pt x="964373" y="12241"/>
                  </a:cubicBezTo>
                  <a:cubicBezTo>
                    <a:pt x="972211" y="20079"/>
                    <a:pt x="976614" y="30709"/>
                    <a:pt x="976614" y="41793"/>
                  </a:cubicBezTo>
                  <a:lnTo>
                    <a:pt x="976614" y="57350"/>
                  </a:lnTo>
                  <a:cubicBezTo>
                    <a:pt x="976614" y="68435"/>
                    <a:pt x="972211" y="79065"/>
                    <a:pt x="964373" y="86903"/>
                  </a:cubicBezTo>
                  <a:cubicBezTo>
                    <a:pt x="956535" y="94741"/>
                    <a:pt x="945905" y="99144"/>
                    <a:pt x="934821" y="99144"/>
                  </a:cubicBezTo>
                  <a:lnTo>
                    <a:pt x="41793" y="99144"/>
                  </a:lnTo>
                  <a:cubicBezTo>
                    <a:pt x="30709" y="99144"/>
                    <a:pt x="20079" y="94741"/>
                    <a:pt x="12241" y="86903"/>
                  </a:cubicBezTo>
                  <a:cubicBezTo>
                    <a:pt x="4403" y="79065"/>
                    <a:pt x="0" y="68435"/>
                    <a:pt x="0" y="57350"/>
                  </a:cubicBezTo>
                  <a:lnTo>
                    <a:pt x="0" y="41793"/>
                  </a:lnTo>
                  <a:cubicBezTo>
                    <a:pt x="0" y="30709"/>
                    <a:pt x="4403" y="20079"/>
                    <a:pt x="12241" y="12241"/>
                  </a:cubicBezTo>
                  <a:cubicBezTo>
                    <a:pt x="20079" y="4403"/>
                    <a:pt x="30709" y="0"/>
                    <a:pt x="41793" y="0"/>
                  </a:cubicBezTo>
                  <a:close/>
                </a:path>
              </a:pathLst>
            </a:custGeom>
            <a:solidFill>
              <a:srgbClr val="7A7D87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85725"/>
              <a:ext cx="976614" cy="1848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39"/>
                </a:lnSpc>
              </a:pPr>
              <a:r>
                <a:rPr lang="en-US" sz="4099">
                  <a:solidFill>
                    <a:srgbClr val="FFFFFF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~Team Quantum Coders</a:t>
              </a:r>
            </a:p>
          </p:txBody>
        </p:sp>
      </p:grpSp>
      <p:sp>
        <p:nvSpPr>
          <p:cNvPr id="6" name="Freeform 6"/>
          <p:cNvSpPr/>
          <p:nvPr/>
        </p:nvSpPr>
        <p:spPr>
          <a:xfrm flipH="1">
            <a:off x="8765038" y="1028700"/>
            <a:ext cx="7315200" cy="2236253"/>
          </a:xfrm>
          <a:custGeom>
            <a:avLst/>
            <a:gdLst/>
            <a:ahLst/>
            <a:cxnLst/>
            <a:rect l="l" t="t" r="r" b="b"/>
            <a:pathLst>
              <a:path w="7315200" h="2236253">
                <a:moveTo>
                  <a:pt x="7315200" y="0"/>
                </a:moveTo>
                <a:lnTo>
                  <a:pt x="0" y="0"/>
                </a:lnTo>
                <a:lnTo>
                  <a:pt x="0" y="2236253"/>
                </a:lnTo>
                <a:lnTo>
                  <a:pt x="7315200" y="2236253"/>
                </a:lnTo>
                <a:lnTo>
                  <a:pt x="73152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067276" y="7686877"/>
            <a:ext cx="3490153" cy="4030833"/>
          </a:xfrm>
          <a:custGeom>
            <a:avLst/>
            <a:gdLst/>
            <a:ahLst/>
            <a:cxnLst/>
            <a:rect l="l" t="t" r="r" b="b"/>
            <a:pathLst>
              <a:path w="3490153" h="4030833">
                <a:moveTo>
                  <a:pt x="0" y="0"/>
                </a:moveTo>
                <a:lnTo>
                  <a:pt x="3490153" y="0"/>
                </a:lnTo>
                <a:lnTo>
                  <a:pt x="3490153" y="4030832"/>
                </a:lnTo>
                <a:lnTo>
                  <a:pt x="0" y="40308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588669" y="2039599"/>
            <a:ext cx="10727255" cy="2384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064"/>
              </a:lnSpc>
            </a:pPr>
            <a:r>
              <a:rPr lang="en-US" sz="15251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Thank You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860253" y="6341626"/>
            <a:ext cx="9447371" cy="959077"/>
            <a:chOff x="0" y="0"/>
            <a:chExt cx="976614" cy="9914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76614" cy="99144"/>
            </a:xfrm>
            <a:custGeom>
              <a:avLst/>
              <a:gdLst/>
              <a:ahLst/>
              <a:cxnLst/>
              <a:rect l="l" t="t" r="r" b="b"/>
              <a:pathLst>
                <a:path w="976614" h="99144">
                  <a:moveTo>
                    <a:pt x="41793" y="0"/>
                  </a:moveTo>
                  <a:lnTo>
                    <a:pt x="934821" y="0"/>
                  </a:lnTo>
                  <a:cubicBezTo>
                    <a:pt x="945905" y="0"/>
                    <a:pt x="956535" y="4403"/>
                    <a:pt x="964373" y="12241"/>
                  </a:cubicBezTo>
                  <a:cubicBezTo>
                    <a:pt x="972211" y="20079"/>
                    <a:pt x="976614" y="30709"/>
                    <a:pt x="976614" y="41793"/>
                  </a:cubicBezTo>
                  <a:lnTo>
                    <a:pt x="976614" y="57350"/>
                  </a:lnTo>
                  <a:cubicBezTo>
                    <a:pt x="976614" y="68435"/>
                    <a:pt x="972211" y="79065"/>
                    <a:pt x="964373" y="86903"/>
                  </a:cubicBezTo>
                  <a:cubicBezTo>
                    <a:pt x="956535" y="94741"/>
                    <a:pt x="945905" y="99144"/>
                    <a:pt x="934821" y="99144"/>
                  </a:cubicBezTo>
                  <a:lnTo>
                    <a:pt x="41793" y="99144"/>
                  </a:lnTo>
                  <a:cubicBezTo>
                    <a:pt x="30709" y="99144"/>
                    <a:pt x="20079" y="94741"/>
                    <a:pt x="12241" y="86903"/>
                  </a:cubicBezTo>
                  <a:cubicBezTo>
                    <a:pt x="4403" y="79065"/>
                    <a:pt x="0" y="68435"/>
                    <a:pt x="0" y="57350"/>
                  </a:cubicBezTo>
                  <a:lnTo>
                    <a:pt x="0" y="41793"/>
                  </a:lnTo>
                  <a:cubicBezTo>
                    <a:pt x="0" y="30709"/>
                    <a:pt x="4403" y="20079"/>
                    <a:pt x="12241" y="12241"/>
                  </a:cubicBezTo>
                  <a:cubicBezTo>
                    <a:pt x="20079" y="4403"/>
                    <a:pt x="30709" y="0"/>
                    <a:pt x="41793" y="0"/>
                  </a:cubicBezTo>
                  <a:close/>
                </a:path>
              </a:pathLst>
            </a:custGeom>
            <a:solidFill>
              <a:srgbClr val="7A7D87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976614" cy="1658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039"/>
                </a:lnSpc>
              </a:pPr>
              <a:r>
                <a:rPr lang="en-US" sz="3599">
                  <a:solidFill>
                    <a:srgbClr val="FFFFFF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Transforming Blind Spots into Safer Zones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577</Words>
  <Application>Microsoft Office PowerPoint</Application>
  <PresentationFormat>Custom</PresentationFormat>
  <Paragraphs>67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Calibri</vt:lpstr>
      <vt:lpstr>Century Gothic Paneuropean Bold</vt:lpstr>
      <vt:lpstr>Arial</vt:lpstr>
      <vt:lpstr>Century Gothic Paneuropean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Silver Modern Cyber Security Presentation</dc:title>
  <dc:creator>DELL</dc:creator>
  <cp:lastModifiedBy>rishikareddy0006@gmail.com</cp:lastModifiedBy>
  <cp:revision>1</cp:revision>
  <dcterms:created xsi:type="dcterms:W3CDTF">2006-08-16T00:00:00Z</dcterms:created>
  <dcterms:modified xsi:type="dcterms:W3CDTF">2026-05-08T10:04:06Z</dcterms:modified>
  <dc:identifier>DAHJDKpkct4</dc:identifier>
</cp:coreProperties>
</file>